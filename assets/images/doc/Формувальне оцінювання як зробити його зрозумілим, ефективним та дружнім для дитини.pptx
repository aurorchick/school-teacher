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udio/m4a" Extension="m4a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Open Sans Bold" charset="1" panose="020B0806030504020204"/>
      <p:regular r:id="rId14"/>
    </p:embeddedFont>
    <p:embeddedFont>
      <p:font typeface="Open Sans" charset="1" panose="020B06060305040202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19.svg" Type="http://schemas.openxmlformats.org/officeDocument/2006/relationships/image"/><Relationship Id="rId6" Target="../media/aAGbOtD4rOY.m4a" Type="http://schemas.microsoft.com/office/2007/relationships/media"/><Relationship Id="rId7" Target="../media/aAGbOtD4rOY.m4a" Type="http://schemas.openxmlformats.org/officeDocument/2006/relationships/audio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Relationship Id="rId4" Target="../media/image8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3.jpeg" Type="http://schemas.openxmlformats.org/officeDocument/2006/relationships/image"/><Relationship Id="rId4" Target="../media/image14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3694" r="-460" b="-9497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36492" y="3892765"/>
            <a:ext cx="6645074" cy="5754364"/>
          </a:xfrm>
          <a:custGeom>
            <a:avLst/>
            <a:gdLst/>
            <a:ahLst/>
            <a:cxnLst/>
            <a:rect r="r" b="b" t="t" l="l"/>
            <a:pathLst>
              <a:path h="5754364" w="6645074">
                <a:moveTo>
                  <a:pt x="0" y="0"/>
                </a:moveTo>
                <a:lnTo>
                  <a:pt x="6645074" y="0"/>
                </a:lnTo>
                <a:lnTo>
                  <a:pt x="6645074" y="5754364"/>
                </a:lnTo>
                <a:lnTo>
                  <a:pt x="0" y="5754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636" t="0" r="-10636" b="-503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268053" y="7275665"/>
            <a:ext cx="8991247" cy="2371464"/>
          </a:xfrm>
          <a:custGeom>
            <a:avLst/>
            <a:gdLst/>
            <a:ahLst/>
            <a:cxnLst/>
            <a:rect r="r" b="b" t="t" l="l"/>
            <a:pathLst>
              <a:path h="2371464" w="8991247">
                <a:moveTo>
                  <a:pt x="0" y="0"/>
                </a:moveTo>
                <a:lnTo>
                  <a:pt x="8991247" y="0"/>
                </a:lnTo>
                <a:lnTo>
                  <a:pt x="8991247" y="2371464"/>
                </a:lnTo>
                <a:lnTo>
                  <a:pt x="0" y="23714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5970" t="0" r="-39119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942975"/>
            <a:ext cx="16405144" cy="2506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06"/>
              </a:lnSpc>
              <a:spcBef>
                <a:spcPct val="0"/>
              </a:spcBef>
            </a:pPr>
            <a:r>
              <a:rPr lang="en-US" b="true" sz="479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Формувальне оцінювання: як зробити </a:t>
            </a:r>
          </a:p>
          <a:p>
            <a:pPr algn="ctr">
              <a:lnSpc>
                <a:spcPts val="6706"/>
              </a:lnSpc>
              <a:spcBef>
                <a:spcPct val="0"/>
              </a:spcBef>
            </a:pPr>
            <a:r>
              <a:rPr lang="en-US" b="true" sz="479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його зрозумілим, ефективним та дружнім </a:t>
            </a:r>
          </a:p>
          <a:p>
            <a:pPr algn="ctr">
              <a:lnSpc>
                <a:spcPts val="6706"/>
              </a:lnSpc>
              <a:spcBef>
                <a:spcPct val="0"/>
              </a:spcBef>
            </a:pPr>
            <a:r>
              <a:rPr lang="en-US" b="true" sz="479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для дитини. </a:t>
            </a:r>
          </a:p>
        </p:txBody>
      </p:sp>
      <p:pic>
        <p:nvPicPr>
          <p:cNvPr name="Picture 6" id="6">
            <a:hlinkClick action="ppaction://media"/>
          </p:cNvPr>
          <p:cNvPicPr>
            <a:picLocks noChangeAspect="true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629650" y="4629150"/>
            <a:ext cx="1028700" cy="1028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cmd cmd="playFrom(0.0)">
              <p:cBhvr>
                <p:cTn/>
                <p:tgtEl>
                  <p:spTgt spid="6"/>
                </p:tgtEl>
              </p:cBhvr>
            </p:cmd>
            <p:audio>
              <p:cMediaNode vol="100000" showWhenStopped="false">
                <p:cTn/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3694" r="-460" b="-9497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3224307"/>
            <a:ext cx="11145008" cy="6775465"/>
          </a:xfrm>
          <a:custGeom>
            <a:avLst/>
            <a:gdLst/>
            <a:ahLst/>
            <a:cxnLst/>
            <a:rect r="r" b="b" t="t" l="l"/>
            <a:pathLst>
              <a:path h="6775465" w="11145008">
                <a:moveTo>
                  <a:pt x="0" y="0"/>
                </a:moveTo>
                <a:lnTo>
                  <a:pt x="11145008" y="0"/>
                </a:lnTo>
                <a:lnTo>
                  <a:pt x="11145008" y="6775465"/>
                </a:lnTo>
                <a:lnTo>
                  <a:pt x="0" y="67754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731" t="0" r="-3731" b="-2417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86270" y="356240"/>
            <a:ext cx="15922502" cy="2514530"/>
          </a:xfrm>
          <a:custGeom>
            <a:avLst/>
            <a:gdLst/>
            <a:ahLst/>
            <a:cxnLst/>
            <a:rect r="r" b="b" t="t" l="l"/>
            <a:pathLst>
              <a:path h="2514530" w="15922502">
                <a:moveTo>
                  <a:pt x="0" y="0"/>
                </a:moveTo>
                <a:lnTo>
                  <a:pt x="15922502" y="0"/>
                </a:lnTo>
                <a:lnTo>
                  <a:pt x="15922502" y="2514530"/>
                </a:lnTo>
                <a:lnTo>
                  <a:pt x="0" y="25145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0445" r="0" b="-20445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400430" y="2668748"/>
            <a:ext cx="5346752" cy="7129003"/>
          </a:xfrm>
          <a:custGeom>
            <a:avLst/>
            <a:gdLst/>
            <a:ahLst/>
            <a:cxnLst/>
            <a:rect r="r" b="b" t="t" l="l"/>
            <a:pathLst>
              <a:path h="7129003" w="5346752">
                <a:moveTo>
                  <a:pt x="0" y="0"/>
                </a:moveTo>
                <a:lnTo>
                  <a:pt x="5346752" y="0"/>
                </a:lnTo>
                <a:lnTo>
                  <a:pt x="5346752" y="7129003"/>
                </a:lnTo>
                <a:lnTo>
                  <a:pt x="0" y="71290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3694" r="-460" b="-9497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180315"/>
            <a:ext cx="18288000" cy="8421354"/>
          </a:xfrm>
          <a:custGeom>
            <a:avLst/>
            <a:gdLst/>
            <a:ahLst/>
            <a:cxnLst/>
            <a:rect r="r" b="b" t="t" l="l"/>
            <a:pathLst>
              <a:path h="8421354" w="18288000">
                <a:moveTo>
                  <a:pt x="0" y="0"/>
                </a:moveTo>
                <a:lnTo>
                  <a:pt x="18288000" y="0"/>
                </a:lnTo>
                <a:lnTo>
                  <a:pt x="18288000" y="8421354"/>
                </a:lnTo>
                <a:lnTo>
                  <a:pt x="0" y="84213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74" t="0" r="-274" b="-126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12502" y="5528721"/>
            <a:ext cx="6462892" cy="4392620"/>
          </a:xfrm>
          <a:custGeom>
            <a:avLst/>
            <a:gdLst/>
            <a:ahLst/>
            <a:cxnLst/>
            <a:rect r="r" b="b" t="t" l="l"/>
            <a:pathLst>
              <a:path h="4392620" w="6462892">
                <a:moveTo>
                  <a:pt x="0" y="0"/>
                </a:moveTo>
                <a:lnTo>
                  <a:pt x="6462892" y="0"/>
                </a:lnTo>
                <a:lnTo>
                  <a:pt x="6462892" y="4392620"/>
                </a:lnTo>
                <a:lnTo>
                  <a:pt x="0" y="4392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174" r="0" b="-5174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3694" r="-460" b="-9497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14564" y="0"/>
            <a:ext cx="17058873" cy="1855729"/>
          </a:xfrm>
          <a:custGeom>
            <a:avLst/>
            <a:gdLst/>
            <a:ahLst/>
            <a:cxnLst/>
            <a:rect r="r" b="b" t="t" l="l"/>
            <a:pathLst>
              <a:path h="1855729" w="17058873">
                <a:moveTo>
                  <a:pt x="0" y="0"/>
                </a:moveTo>
                <a:lnTo>
                  <a:pt x="17058872" y="0"/>
                </a:lnTo>
                <a:lnTo>
                  <a:pt x="17058872" y="1855729"/>
                </a:lnTo>
                <a:lnTo>
                  <a:pt x="0" y="18557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717" r="0" b="-733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37795" y="1855729"/>
            <a:ext cx="16821505" cy="7837677"/>
          </a:xfrm>
          <a:custGeom>
            <a:avLst/>
            <a:gdLst/>
            <a:ahLst/>
            <a:cxnLst/>
            <a:rect r="r" b="b" t="t" l="l"/>
            <a:pathLst>
              <a:path h="7837677" w="16821505">
                <a:moveTo>
                  <a:pt x="0" y="0"/>
                </a:moveTo>
                <a:lnTo>
                  <a:pt x="16821505" y="0"/>
                </a:lnTo>
                <a:lnTo>
                  <a:pt x="16821505" y="7837677"/>
                </a:lnTo>
                <a:lnTo>
                  <a:pt x="0" y="78376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059" t="0" r="-2059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3694" r="-460" b="-9497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5350" y="4927308"/>
            <a:ext cx="8262586" cy="4638939"/>
          </a:xfrm>
          <a:custGeom>
            <a:avLst/>
            <a:gdLst/>
            <a:ahLst/>
            <a:cxnLst/>
            <a:rect r="r" b="b" t="t" l="l"/>
            <a:pathLst>
              <a:path h="4638939" w="8262586">
                <a:moveTo>
                  <a:pt x="0" y="0"/>
                </a:moveTo>
                <a:lnTo>
                  <a:pt x="8262586" y="0"/>
                </a:lnTo>
                <a:lnTo>
                  <a:pt x="8262586" y="4638938"/>
                </a:lnTo>
                <a:lnTo>
                  <a:pt x="0" y="46389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55" r="0" b="-255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229036" y="4927308"/>
            <a:ext cx="8251006" cy="4652163"/>
          </a:xfrm>
          <a:custGeom>
            <a:avLst/>
            <a:gdLst/>
            <a:ahLst/>
            <a:cxnLst/>
            <a:rect r="r" b="b" t="t" l="l"/>
            <a:pathLst>
              <a:path h="4652163" w="8251006">
                <a:moveTo>
                  <a:pt x="0" y="0"/>
                </a:moveTo>
                <a:lnTo>
                  <a:pt x="8251006" y="0"/>
                </a:lnTo>
                <a:lnTo>
                  <a:pt x="8251006" y="4652162"/>
                </a:lnTo>
                <a:lnTo>
                  <a:pt x="0" y="46521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259032"/>
            <a:ext cx="16451342" cy="3691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38"/>
              </a:lnSpc>
              <a:spcBef>
                <a:spcPct val="0"/>
              </a:spcBef>
            </a:pPr>
            <a:r>
              <a:rPr lang="en-US" b="true" sz="352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Використовую сигнальні картки . </a:t>
            </a:r>
          </a:p>
          <a:p>
            <a:pPr algn="ctr">
              <a:lnSpc>
                <a:spcPts val="4938"/>
              </a:lnSpc>
              <a:spcBef>
                <a:spcPct val="0"/>
              </a:spcBef>
            </a:pPr>
            <a:r>
              <a:rPr lang="en-US" b="true" sz="352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Замість жестів пропоную учням показувати картки певного кольору:</a:t>
            </a:r>
          </a:p>
          <a:p>
            <a:pPr algn="ctr">
              <a:lnSpc>
                <a:spcPts val="4938"/>
              </a:lnSpc>
              <a:spcBef>
                <a:spcPct val="0"/>
              </a:spcBef>
            </a:pPr>
            <a:r>
              <a:rPr lang="en-US" b="true" sz="352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• Я зрозумів — зелена картка;</a:t>
            </a:r>
          </a:p>
          <a:p>
            <a:pPr algn="ctr">
              <a:lnSpc>
                <a:spcPts val="4938"/>
              </a:lnSpc>
              <a:spcBef>
                <a:spcPct val="0"/>
              </a:spcBef>
            </a:pPr>
            <a:r>
              <a:rPr lang="en-US" b="true" sz="352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• Я не зовсім зрозумів або </a:t>
            </a:r>
          </a:p>
          <a:p>
            <a:pPr algn="ctr">
              <a:lnSpc>
                <a:spcPts val="4938"/>
              </a:lnSpc>
              <a:spcBef>
                <a:spcPct val="0"/>
              </a:spcBef>
            </a:pPr>
            <a:r>
              <a:rPr lang="en-US" b="true" sz="352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•Я не все зрозумів — жовта;</a:t>
            </a:r>
          </a:p>
          <a:p>
            <a:pPr algn="ctr">
              <a:lnSpc>
                <a:spcPts val="4938"/>
              </a:lnSpc>
              <a:spcBef>
                <a:spcPct val="0"/>
              </a:spcBef>
            </a:pPr>
            <a:r>
              <a:rPr lang="en-US" b="true" sz="352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• Я не зрозумів — червона.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3694" r="-460" b="-9497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45723" y="3472557"/>
            <a:ext cx="7624743" cy="6217198"/>
          </a:xfrm>
          <a:custGeom>
            <a:avLst/>
            <a:gdLst/>
            <a:ahLst/>
            <a:cxnLst/>
            <a:rect r="r" b="b" t="t" l="l"/>
            <a:pathLst>
              <a:path h="6217198" w="7624743">
                <a:moveTo>
                  <a:pt x="0" y="0"/>
                </a:moveTo>
                <a:lnTo>
                  <a:pt x="7624743" y="0"/>
                </a:lnTo>
                <a:lnTo>
                  <a:pt x="7624743" y="6217199"/>
                </a:lnTo>
                <a:lnTo>
                  <a:pt x="0" y="62171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801" t="-3754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3362294"/>
            <a:ext cx="8436615" cy="6327461"/>
          </a:xfrm>
          <a:custGeom>
            <a:avLst/>
            <a:gdLst/>
            <a:ahLst/>
            <a:cxnLst/>
            <a:rect r="r" b="b" t="t" l="l"/>
            <a:pathLst>
              <a:path h="6327461" w="8436615">
                <a:moveTo>
                  <a:pt x="0" y="0"/>
                </a:moveTo>
                <a:lnTo>
                  <a:pt x="8436615" y="0"/>
                </a:lnTo>
                <a:lnTo>
                  <a:pt x="8436615" y="6327462"/>
                </a:lnTo>
                <a:lnTo>
                  <a:pt x="0" y="63274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34571" y="260311"/>
            <a:ext cx="17670452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Вправа «Хибні завдання».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Навмисно даю учням завдання з типовими помилками, роблю передбачувані помилкові судження. Учні люблять відшукувати помилки й неточності в судженнях, яких я припускаюсь.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3694" r="-460" b="-9497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15521" y="5019505"/>
            <a:ext cx="6148106" cy="4611079"/>
          </a:xfrm>
          <a:custGeom>
            <a:avLst/>
            <a:gdLst/>
            <a:ahLst/>
            <a:cxnLst/>
            <a:rect r="r" b="b" t="t" l="l"/>
            <a:pathLst>
              <a:path h="4611079" w="6148106">
                <a:moveTo>
                  <a:pt x="0" y="0"/>
                </a:moveTo>
                <a:lnTo>
                  <a:pt x="6148106" y="0"/>
                </a:lnTo>
                <a:lnTo>
                  <a:pt x="6148106" y="4611080"/>
                </a:lnTo>
                <a:lnTo>
                  <a:pt x="0" y="46110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22378" y="5019505"/>
            <a:ext cx="6024976" cy="4518732"/>
          </a:xfrm>
          <a:custGeom>
            <a:avLst/>
            <a:gdLst/>
            <a:ahLst/>
            <a:cxnLst/>
            <a:rect r="r" b="b" t="t" l="l"/>
            <a:pathLst>
              <a:path h="4518732" w="6024976">
                <a:moveTo>
                  <a:pt x="0" y="0"/>
                </a:moveTo>
                <a:lnTo>
                  <a:pt x="6024976" y="0"/>
                </a:lnTo>
                <a:lnTo>
                  <a:pt x="6024976" y="4518732"/>
                </a:lnTo>
                <a:lnTo>
                  <a:pt x="0" y="45187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20210" y="-66675"/>
            <a:ext cx="17967790" cy="4780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Т</a:t>
            </a:r>
            <a:r>
              <a:rPr lang="en-US" b="true" sz="33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акож важливо завжди зосереджуватися на тому, як добре, а не швидко учні досягають своєї мети. Навіть під час розфарбовування можна спостерігати, що деякі діти зафарбовують все одним кольором, виходять за межі контуру малюнку і швидко тягнуть догори руку, викрикуючи: «Я вже! Я перший!» Інші навпаки, кольори обирають ретельно, розфарбовують охайно, не поспішаючи. Тут вже й самі діти повинні оцінити результати роботи, висловити свої враження, побажання. Намагаюсь вчити дітей, що оцінювати треба роботу, а не конкретну дитину.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3694" r="-460" b="-9497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814472" y="2682906"/>
            <a:ext cx="10811324" cy="6575394"/>
          </a:xfrm>
          <a:custGeom>
            <a:avLst/>
            <a:gdLst/>
            <a:ahLst/>
            <a:cxnLst/>
            <a:rect r="r" b="b" t="t" l="l"/>
            <a:pathLst>
              <a:path h="6575394" w="10811324">
                <a:moveTo>
                  <a:pt x="0" y="0"/>
                </a:moveTo>
                <a:lnTo>
                  <a:pt x="10811324" y="0"/>
                </a:lnTo>
                <a:lnTo>
                  <a:pt x="10811324" y="6575394"/>
                </a:lnTo>
                <a:lnTo>
                  <a:pt x="0" y="65753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970" r="0" b="-97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569504" y="315308"/>
            <a:ext cx="11301259" cy="1426784"/>
          </a:xfrm>
          <a:custGeom>
            <a:avLst/>
            <a:gdLst/>
            <a:ahLst/>
            <a:cxnLst/>
            <a:rect r="r" b="b" t="t" l="l"/>
            <a:pathLst>
              <a:path h="1426784" w="11301259">
                <a:moveTo>
                  <a:pt x="0" y="0"/>
                </a:moveTo>
                <a:lnTo>
                  <a:pt x="11301259" y="0"/>
                </a:lnTo>
                <a:lnTo>
                  <a:pt x="11301259" y="1426784"/>
                </a:lnTo>
                <a:lnTo>
                  <a:pt x="0" y="14267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DAG62ZDHcVc</dc:identifier>
  <dcterms:modified xsi:type="dcterms:W3CDTF">2011-08-01T06:04:30Z</dcterms:modified>
  <cp:revision>1</cp:revision>
  <dc:title>Формувальне оцінювання: як зробити його зрозумілим, ефективним та дружнім для дитини.</dc:title>
</cp:coreProperties>
</file>